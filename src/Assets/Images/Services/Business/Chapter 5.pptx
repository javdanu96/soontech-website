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  <p:sldMasterId id="2147483660" r:id="rId2"/>
  </p:sldMasterIdLst>
  <p:notesMasterIdLst>
    <p:notesMasterId r:id="rId49"/>
  </p:notesMasterIdLst>
  <p:handoutMasterIdLst>
    <p:handoutMasterId r:id="rId50"/>
  </p:handoutMasterIdLst>
  <p:sldIdLst>
    <p:sldId id="401" r:id="rId3"/>
    <p:sldId id="257" r:id="rId4"/>
    <p:sldId id="340" r:id="rId5"/>
    <p:sldId id="341" r:id="rId6"/>
    <p:sldId id="342" r:id="rId7"/>
    <p:sldId id="343" r:id="rId8"/>
    <p:sldId id="344" r:id="rId9"/>
    <p:sldId id="404" r:id="rId10"/>
    <p:sldId id="402" r:id="rId11"/>
    <p:sldId id="403" r:id="rId12"/>
    <p:sldId id="414" r:id="rId13"/>
    <p:sldId id="405" r:id="rId14"/>
    <p:sldId id="406" r:id="rId15"/>
    <p:sldId id="345" r:id="rId16"/>
    <p:sldId id="346" r:id="rId17"/>
    <p:sldId id="347" r:id="rId18"/>
    <p:sldId id="348" r:id="rId19"/>
    <p:sldId id="349" r:id="rId20"/>
    <p:sldId id="350" r:id="rId21"/>
    <p:sldId id="352" r:id="rId22"/>
    <p:sldId id="353" r:id="rId23"/>
    <p:sldId id="354" r:id="rId24"/>
    <p:sldId id="355" r:id="rId25"/>
    <p:sldId id="415" r:id="rId26"/>
    <p:sldId id="356" r:id="rId27"/>
    <p:sldId id="357" r:id="rId28"/>
    <p:sldId id="358" r:id="rId29"/>
    <p:sldId id="407" r:id="rId30"/>
    <p:sldId id="408" r:id="rId31"/>
    <p:sldId id="416" r:id="rId32"/>
    <p:sldId id="409" r:id="rId33"/>
    <p:sldId id="359" r:id="rId34"/>
    <p:sldId id="360" r:id="rId35"/>
    <p:sldId id="361" r:id="rId36"/>
    <p:sldId id="410" r:id="rId37"/>
    <p:sldId id="411" r:id="rId38"/>
    <p:sldId id="417" r:id="rId39"/>
    <p:sldId id="362" r:id="rId40"/>
    <p:sldId id="367" r:id="rId41"/>
    <p:sldId id="412" r:id="rId42"/>
    <p:sldId id="369" r:id="rId43"/>
    <p:sldId id="371" r:id="rId44"/>
    <p:sldId id="373" r:id="rId45"/>
    <p:sldId id="398" r:id="rId46"/>
    <p:sldId id="413" r:id="rId47"/>
    <p:sldId id="399" r:id="rId4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83" autoAdjust="0"/>
  </p:normalViewPr>
  <p:slideViewPr>
    <p:cSldViewPr>
      <p:cViewPr varScale="1">
        <p:scale>
          <a:sx n="91" d="100"/>
          <a:sy n="91" d="100"/>
        </p:scale>
        <p:origin x="-91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A30D3F-41B5-4455-906E-D1974A00FD5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00637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7F7A51D-244E-4445-B9A9-C628DAAC245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09366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545154F-02A2-48B0-BD83-12D714F9E573}" type="slidenum">
              <a:rPr lang="en-US" sz="1200">
                <a:solidFill>
                  <a:srgbClr val="000000"/>
                </a:solidFill>
              </a:rPr>
              <a:pPr eaLnBrk="1" hangingPunct="1"/>
              <a:t>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754F38-0E74-4146-83AE-A6A4EABFE476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3D1E2C-FB3C-4C73-A853-51B4D21FB2A4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E45705-4721-4E5B-9DE3-1CA525019997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DB5ED2-E267-4655-A28F-15593139AFAB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F9976A-1B26-4D8F-9913-3E6C3932430A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E30B87-A313-4033-B25C-F2F3033A3D9B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EBCF24-DE12-44BA-891D-4B9710BF97EB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9D7526-3BB8-4B42-98E5-03916F726AE5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186BB-E3E7-4B8C-A6DC-D5A860746707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D83D7B-D896-43B8-991A-8EA2882607CD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C209B-2BBE-4CC3-B16A-2982DC55AA61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476B1E-05A1-45BC-B2D8-8B25A9ADC9AE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9FF3BC-F97A-45B5-AAB2-FF98F96C061E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C35051-8E0B-41E9-8595-8BEB3CFEC11B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9AC651-6BFF-4CBC-9607-C31DE81CC249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7213D0-17B2-4949-9013-3BBA58ECA821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E58F24-735F-4F3A-B06A-96511CF109F4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20B65A-F138-4278-82FA-0DE892E7C516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CB0088-49BA-400C-9B53-6DC67AB3C632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DD9519-6DE2-46CF-A02C-BC05FB1DF5F8}" type="slidenum">
              <a:rPr lang="en-US"/>
              <a:pPr/>
              <a:t>32</a:t>
            </a:fld>
            <a:endParaRPr lang="en-US" dirty="0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1EE88B-1712-4B01-B52E-584F6CFDEF75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6E266B-386B-4D23-8037-A98592958C7F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C4A76-7EC6-4405-8CB0-9F1ED0019707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ADFEAE-0996-49A6-A471-C22632976203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06071D-B7BC-45C3-83C2-431A5822CB13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3CA9B5-EC8A-4043-91FE-9EF85DBC4C6F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50C024-8179-4A9E-8D26-BF3B1ABE6F7D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61A1CD-1497-4E8B-B02D-17799DF9A942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80BCE-CAC2-49EE-AB7C-899AB9815735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noProof="0" smtClean="0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>
                <a:latin typeface="Times New Roman" pitchFamily="18" charset="0"/>
              </a:defRPr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3041F08A-566D-4D3A-8C14-5C12F1A8DD01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23118F-8649-4894-997C-DB54E78D3C8C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22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39EA6B-78FA-4524-A698-53DB3F1FA92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27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E4EEB66-7458-4F14-929F-289ED64E8D4C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739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DF3DEE5-7D7A-4F63-8944-8D2AB1C6E55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010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A25FE5-A4C0-42AA-A891-0A235066289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394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7A9F7-8053-495D-9DF7-2DACB513C0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295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7E09F9-19D3-451F-ADAA-F1C2818A9C4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8517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DC4119-2E20-470B-9B2D-772CA81596B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051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1DDC5A-AC60-4CB0-8BA6-B91BE0886C1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000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705816-6D8F-4F1A-BE76-44E1EF61BA2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21118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61778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077200" cy="4572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6E226-9000-4AEB-9C69-EE31145388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5376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3810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  <a:latin typeface="+mn-lt"/>
              </a:defRPr>
            </a:lvl1pPr>
          </a:lstStyle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+mn-lt"/>
              </a:defRPr>
            </a:lvl1pPr>
          </a:lstStyle>
          <a:p>
            <a:fld id="{9C90EC71-1B43-442B-A477-B1DD7AC880BA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495800" y="6477000"/>
            <a:ext cx="167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 smtClean="0">
                <a:solidFill>
                  <a:schemeClr val="tx1"/>
                </a:solidFill>
                <a:effectLst/>
                <a:latin typeface="Calibri"/>
                <a:ea typeface="Calibri"/>
              </a:rPr>
              <a:t>© 2013 Cengage Learning</a:t>
            </a:r>
            <a:endParaRPr lang="en-US" sz="1100" dirty="0">
              <a:solidFill>
                <a:schemeClr val="tx1"/>
              </a:solidFill>
              <a:effectLst/>
              <a:latin typeface="Times New Roman"/>
              <a:ea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3810000" cy="3810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+mn-lt"/>
              </a:defRPr>
            </a:lvl1pPr>
          </a:lstStyle>
          <a:p>
            <a:pPr>
              <a:defRPr/>
            </a:pPr>
            <a:fld id="{28B943D9-F979-4FAF-AD50-184E095B0C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4495800" y="6477000"/>
            <a:ext cx="167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dirty="0" smtClean="0">
                <a:solidFill>
                  <a:schemeClr val="tx1"/>
                </a:solidFill>
                <a:effectLst/>
                <a:latin typeface="Calibri"/>
                <a:ea typeface="Calibri"/>
              </a:rPr>
              <a:t>© 2013 Cengage Learning</a:t>
            </a:r>
            <a:endParaRPr lang="en-US" sz="1100" dirty="0">
              <a:solidFill>
                <a:schemeClr val="tx1"/>
              </a:solidFill>
              <a:effectLst/>
              <a:latin typeface="Times New Roman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01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222222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rgbClr val="222222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rgbClr val="222222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CWNA Guide to Wireless LANs, </a:t>
            </a:r>
            <a:br>
              <a:rPr lang="en-US" sz="3600" b="1" dirty="0" smtClean="0"/>
            </a:br>
            <a:r>
              <a:rPr lang="en-US" sz="3600" b="1" dirty="0" smtClean="0"/>
              <a:t>Third Edition</a:t>
            </a:r>
            <a:endParaRPr lang="en-US" sz="3600" b="1" dirty="0" smtClean="0"/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772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b="0" i="1" dirty="0" smtClean="0"/>
              <a:t>Chapter 8: Conducting a Site Survey</a:t>
            </a:r>
          </a:p>
        </p:txBody>
      </p:sp>
    </p:spTree>
    <p:extLst>
      <p:ext uri="{BB962C8B-B14F-4D97-AF65-F5344CB8AC3E}">
        <p14:creationId xmlns:p14="http://schemas.microsoft.com/office/powerpoint/2010/main" xmlns="" val="338187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28C63A-66D6-4748-89CC-43C4C712E818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a site survey </a:t>
            </a:r>
            <a:r>
              <a:rPr lang="en-US" dirty="0" smtClean="0"/>
              <a:t>is and how it can be used</a:t>
            </a:r>
            <a:endParaRPr lang="en-US" dirty="0"/>
          </a:p>
          <a:p>
            <a:r>
              <a:rPr lang="en-US" dirty="0" smtClean="0"/>
              <a:t>List and describe </a:t>
            </a:r>
            <a:r>
              <a:rPr lang="en-US" dirty="0"/>
              <a:t>the tools </a:t>
            </a:r>
            <a:r>
              <a:rPr lang="en-US" dirty="0" smtClean="0"/>
              <a:t>used for conducting </a:t>
            </a:r>
            <a:r>
              <a:rPr lang="en-US" dirty="0"/>
              <a:t>a site survey</a:t>
            </a:r>
          </a:p>
          <a:p>
            <a:r>
              <a:rPr lang="en-US" dirty="0"/>
              <a:t>Describe </a:t>
            </a:r>
            <a:r>
              <a:rPr lang="en-US" dirty="0" smtClean="0"/>
              <a:t>the procedures for performing </a:t>
            </a:r>
            <a:r>
              <a:rPr lang="en-US" dirty="0"/>
              <a:t>a site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E11594-E32E-41EC-BE43-322305E4E4AA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Site Survey?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installing a WLAN for an organization, areas of dead space might not be tolerated</a:t>
            </a:r>
          </a:p>
          <a:p>
            <a:pPr lvl="1"/>
            <a:r>
              <a:rPr lang="en-US" dirty="0"/>
              <a:t>Ensure blanket coverage, meet per-user bandwidth requirements, minimize “bleeding” of signal</a:t>
            </a:r>
          </a:p>
          <a:p>
            <a:r>
              <a:rPr lang="en-US" dirty="0"/>
              <a:t>Factors affecting wireless coverage goals:</a:t>
            </a:r>
          </a:p>
          <a:p>
            <a:pPr lvl="1"/>
            <a:r>
              <a:rPr lang="en-US" dirty="0"/>
              <a:t>Devices emitting RF signals</a:t>
            </a:r>
          </a:p>
          <a:p>
            <a:pPr lvl="1"/>
            <a:r>
              <a:rPr lang="en-US" dirty="0"/>
              <a:t>Building structure (walls, construction materials)</a:t>
            </a:r>
          </a:p>
          <a:p>
            <a:pPr lvl="1"/>
            <a:r>
              <a:rPr lang="en-US" dirty="0"/>
              <a:t>Open or closed office doors</a:t>
            </a:r>
          </a:p>
          <a:p>
            <a:pPr lvl="1"/>
            <a:r>
              <a:rPr lang="en-US" dirty="0"/>
              <a:t>Stationary versus mobile machinery/equipment</a:t>
            </a:r>
          </a:p>
          <a:p>
            <a:pPr lvl="1"/>
            <a:r>
              <a:rPr lang="en-US" dirty="0"/>
              <a:t>Movement of mobile walls (e.g., cubicles)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8A405E-A396-410D-8EB8-E4106806A0E0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Site </a:t>
            </a:r>
            <a:r>
              <a:rPr lang="en-US" dirty="0" smtClean="0"/>
              <a:t>Survey?</a:t>
            </a:r>
            <a:endParaRPr lang="en-US" dirty="0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Factors affecting wireless coverage goals (continued):</a:t>
            </a:r>
          </a:p>
          <a:p>
            <a:pPr lvl="1"/>
            <a:r>
              <a:rPr lang="en-US" dirty="0"/>
              <a:t>Expansion of physical plant or growth of organization</a:t>
            </a:r>
          </a:p>
          <a:p>
            <a:pPr lvl="1"/>
            <a:r>
              <a:rPr lang="en-US" dirty="0"/>
              <a:t>Existing WLANs</a:t>
            </a:r>
          </a:p>
          <a:p>
            <a:pPr lvl="2"/>
            <a:r>
              <a:rPr lang="en-US" dirty="0"/>
              <a:t>Both inside organization, and within nearby organizations</a:t>
            </a:r>
          </a:p>
          <a:p>
            <a:r>
              <a:rPr lang="en-US" b="1" dirty="0"/>
              <a:t>Site survey:</a:t>
            </a:r>
            <a:r>
              <a:rPr lang="en-US" dirty="0"/>
              <a:t> Process of planning a WLAN to meet design goals</a:t>
            </a:r>
          </a:p>
          <a:p>
            <a:pPr lvl="1"/>
            <a:r>
              <a:rPr lang="en-US" dirty="0"/>
              <a:t>Effectiveness of a WLAN often linked to thoroughness of the site 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6D2B07-568B-467F-8446-844A6B88C267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of a Site Survey</a:t>
            </a:r>
            <a:endParaRPr lang="en-US" dirty="0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goals for a site survey:</a:t>
            </a:r>
          </a:p>
          <a:p>
            <a:pPr lvl="1"/>
            <a:r>
              <a:rPr lang="en-US" dirty="0"/>
              <a:t>Achieve best possible performance from WLAN</a:t>
            </a:r>
          </a:p>
          <a:p>
            <a:pPr lvl="1"/>
            <a:r>
              <a:rPr lang="en-US" dirty="0"/>
              <a:t>Certify that installation will operate as promised</a:t>
            </a:r>
          </a:p>
          <a:p>
            <a:pPr lvl="1"/>
            <a:r>
              <a:rPr lang="en-US" dirty="0"/>
              <a:t>Determine best location for APs</a:t>
            </a:r>
          </a:p>
          <a:p>
            <a:pPr lvl="1"/>
            <a:r>
              <a:rPr lang="en-US" dirty="0"/>
              <a:t>Develop networks optimized for variety of applications</a:t>
            </a:r>
          </a:p>
          <a:p>
            <a:pPr lvl="1"/>
            <a:r>
              <a:rPr lang="en-US" dirty="0"/>
              <a:t>Ensure coverage will fulfill organization’s requirements</a:t>
            </a:r>
          </a:p>
          <a:p>
            <a:pPr lvl="1"/>
            <a:r>
              <a:rPr lang="en-US" dirty="0"/>
              <a:t>Locate unauthorized 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1E178E-9229-4444-B957-0EE2B4CD24DF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of a Site Survey</a:t>
            </a:r>
            <a:endParaRPr lang="en-US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Design goals for a site survey (continued):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Map nearby wireless networks to determine existing radio interference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Reduce radio interference as much as possible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Make wireless network secure</a:t>
            </a:r>
          </a:p>
          <a:p>
            <a:pPr>
              <a:lnSpc>
                <a:spcPct val="90000"/>
              </a:lnSpc>
            </a:pPr>
            <a:r>
              <a:rPr lang="en-US" dirty="0"/>
              <a:t>Survey provides realistic understanding of infrastructure required for proposed wireless link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Assists in predicting network capability and throughput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Helps determine exact location of APs and power levels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CE7A32-9B96-4078-B6C0-3869680D284A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Perform a Site Survey</a:t>
            </a:r>
            <a:endParaRPr lang="en-US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4572000"/>
          </a:xfrm>
        </p:spPr>
        <p:txBody>
          <a:bodyPr/>
          <a:lstStyle/>
          <a:p>
            <a:r>
              <a:rPr lang="en-US" dirty="0"/>
              <a:t>When to perform a site survey:</a:t>
            </a:r>
          </a:p>
          <a:p>
            <a:pPr lvl="1"/>
            <a:r>
              <a:rPr lang="en-US" dirty="0"/>
              <a:t>Before installing a new wireless network</a:t>
            </a:r>
          </a:p>
          <a:p>
            <a:pPr lvl="1"/>
            <a:r>
              <a:rPr lang="en-US" dirty="0" smtClean="0"/>
              <a:t>After physical changes to a building</a:t>
            </a:r>
          </a:p>
          <a:p>
            <a:pPr lvl="1"/>
            <a:r>
              <a:rPr lang="en-US" dirty="0" smtClean="0"/>
              <a:t>After changes to an existing wireless network</a:t>
            </a:r>
          </a:p>
          <a:p>
            <a:pPr lvl="1"/>
            <a:r>
              <a:rPr lang="en-US" dirty="0" smtClean="0"/>
              <a:t>If network needs change for the organization</a:t>
            </a:r>
          </a:p>
          <a:p>
            <a:pPr lvl="1"/>
            <a:r>
              <a:rPr lang="en-US" dirty="0" smtClean="0"/>
              <a:t>After significant changes in personnel</a:t>
            </a:r>
          </a:p>
          <a:p>
            <a:r>
              <a:rPr lang="en-US" b="1" dirty="0" smtClean="0"/>
              <a:t>Automated RF resource management</a:t>
            </a:r>
            <a:r>
              <a:rPr lang="en-US" dirty="0" smtClean="0"/>
              <a:t>: a dynamic self-managing WLAN </a:t>
            </a:r>
          </a:p>
          <a:p>
            <a:pPr lvl="1"/>
            <a:r>
              <a:rPr lang="en-US" dirty="0" smtClean="0"/>
              <a:t>the wireless devices monitor the environment and automatically adjust power levels or channels to compensate for changes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6800" y="5743545"/>
            <a:ext cx="4415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Table 8-1  Categories of Site Surveys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6" name="Picture 2" descr="C:\Users\Julie\Documents\Dropbox\InstructorManuals\CWNA\PPTs-new\Tables\chapter 08\Table 8-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554499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79942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Site Surveys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Manual site survey</a:t>
            </a:r>
            <a:r>
              <a:rPr lang="en-US" dirty="0" smtClean="0"/>
              <a:t>: requires walking through the area of the WLAN while carrying a wireless client like a laptop or tablet computer</a:t>
            </a:r>
          </a:p>
          <a:p>
            <a:r>
              <a:rPr lang="en-US" dirty="0" smtClean="0"/>
              <a:t>Can be divided into two categories:</a:t>
            </a:r>
          </a:p>
          <a:p>
            <a:pPr lvl="1"/>
            <a:r>
              <a:rPr lang="en-US" i="1" dirty="0" smtClean="0"/>
              <a:t>Passive manual site survey</a:t>
            </a:r>
            <a:r>
              <a:rPr lang="en-US" dirty="0" smtClean="0"/>
              <a:t>: client device “listens” in order to gather RF measurements such as signal strengths, noise levels, and the signal-to-noise ratio (SNR) </a:t>
            </a:r>
          </a:p>
          <a:p>
            <a:pPr lvl="1"/>
            <a:r>
              <a:rPr lang="en-US" i="1" dirty="0" smtClean="0"/>
              <a:t>Active manual site survey</a:t>
            </a:r>
            <a:r>
              <a:rPr lang="en-US" dirty="0" smtClean="0"/>
              <a:t>: client device sends and receives packets to determine the status of the WLAN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4283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Site Surveys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Predictive site survey</a:t>
            </a:r>
            <a:r>
              <a:rPr lang="en-US" dirty="0" smtClean="0"/>
              <a:t>: a virtual survey of the area that uses modeling techniques to design the wireless network</a:t>
            </a:r>
          </a:p>
          <a:p>
            <a:pPr lvl="1"/>
            <a:r>
              <a:rPr lang="en-US" dirty="0" smtClean="0"/>
              <a:t>Building floor plans are loaded into the </a:t>
            </a:r>
            <a:r>
              <a:rPr lang="en-US" b="1" dirty="0" smtClean="0"/>
              <a:t>predictive analysis simulation application</a:t>
            </a:r>
            <a:r>
              <a:rPr lang="en-US" dirty="0" smtClean="0"/>
              <a:t> survey software (also called </a:t>
            </a:r>
            <a:r>
              <a:rPr lang="en-US" b="1" dirty="0" smtClean="0"/>
              <a:t>RF planning and management tools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Can account for building materials, square footage, number of wireless users, types of applications, antenna models, etc.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965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67A9F7-8053-495D-9DF7-2DACB513C06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 descr="C:\Users\Julie\Documents\DropBox\InstructorManuals\CWNA\PPTs-new\fIGURES\Figure 8-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6572664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43000" y="5867400"/>
            <a:ext cx="6272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Figure 8-1  Predictive analysis simulation application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80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Site Surveys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 of data needed for an outdoor site survey:</a:t>
            </a:r>
          </a:p>
          <a:p>
            <a:pPr lvl="1"/>
            <a:r>
              <a:rPr lang="en-US" dirty="0" smtClean="0"/>
              <a:t>Height and material of buildings, light poles, or other structures that are to host an AP</a:t>
            </a:r>
          </a:p>
          <a:p>
            <a:pPr lvl="1"/>
            <a:r>
              <a:rPr lang="en-US" dirty="0" smtClean="0"/>
              <a:t>Location, size, and density of areas where trees, foliage, hills, or other obstacles may interfere with the signal</a:t>
            </a:r>
          </a:p>
          <a:p>
            <a:pPr lvl="1"/>
            <a:r>
              <a:rPr lang="en-US" dirty="0" smtClean="0"/>
              <a:t>Types of applications or the desired bandwidth to be carried</a:t>
            </a:r>
          </a:p>
          <a:p>
            <a:pPr lvl="1"/>
            <a:r>
              <a:rPr lang="en-US" dirty="0" smtClean="0"/>
              <a:t>Availability of power at each building, light pole, or outbuilding to power the APs</a:t>
            </a:r>
          </a:p>
          <a:p>
            <a:pPr lvl="1"/>
            <a:r>
              <a:rPr lang="en-US" dirty="0" smtClean="0"/>
              <a:t>Availability of data connectivity at each location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4583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Site Survey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predictive site survey software uses AutoCAD drawing files with embedded detail about building materials</a:t>
            </a:r>
          </a:p>
          <a:p>
            <a:r>
              <a:rPr lang="en-US" dirty="0" smtClean="0"/>
              <a:t>For manual site surveys, a wide variety of tools are available:</a:t>
            </a:r>
          </a:p>
          <a:p>
            <a:pPr lvl="1"/>
            <a:r>
              <a:rPr lang="en-US" dirty="0" smtClean="0"/>
              <a:t>Single hardware “bundle” that includes software installed on a dedicated hardware device</a:t>
            </a:r>
          </a:p>
          <a:p>
            <a:pPr lvl="1"/>
            <a:r>
              <a:rPr lang="en-US" dirty="0" smtClean="0"/>
              <a:t>Software to be installed on different devices</a:t>
            </a:r>
          </a:p>
          <a:p>
            <a:pPr lvl="1"/>
            <a:r>
              <a:rPr lang="en-US" dirty="0" smtClean="0"/>
              <a:t>Wireless device tools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9040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5FE6C2-BBE1-492F-A20B-8A351CABB6B8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Wireless Device </a:t>
            </a:r>
            <a:r>
              <a:rPr lang="en-US" dirty="0"/>
              <a:t>Tools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Most basic tool is AP itself: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Position AP in various locations, monitor signal as you move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APs should have ability to adjust output power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APs should have external antenna connectors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Test effectiveness of different antenna types in different situations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need DC-to-AC converter for testing</a:t>
            </a:r>
          </a:p>
          <a:p>
            <a:pPr>
              <a:lnSpc>
                <a:spcPct val="90000"/>
              </a:lnSpc>
            </a:pPr>
            <a:r>
              <a:rPr lang="en-US" dirty="0"/>
              <a:t>Notebook computer with wireless NIC also essential for testing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Previously configured and tested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D3CEF4-971B-410E-9595-68E436D55EE2}" type="slidenum">
              <a:rPr lang="en-US"/>
              <a:pPr/>
              <a:t>15</a:t>
            </a:fld>
            <a:endParaRPr lang="en-US" dirty="0"/>
          </a:p>
        </p:txBody>
      </p:sp>
      <p:pic>
        <p:nvPicPr>
          <p:cNvPr id="2050" name="Picture 2" descr="C:\Users\Julie\Documents\DropBox\InstructorManuals\CWNA\PPTs-new\fIGURES\Figure 8-2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19200"/>
            <a:ext cx="5334000" cy="408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7800" y="5715000"/>
            <a:ext cx="5343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Figure 8-2  Adjust power levels with slider bar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A4EC6A-563B-4128-B44F-ABADFF23A5CD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Tools</a:t>
            </a:r>
            <a:endParaRPr lang="en-US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4572000"/>
          </a:xfrm>
        </p:spPr>
        <p:txBody>
          <a:bodyPr/>
          <a:lstStyle/>
          <a:p>
            <a:r>
              <a:rPr lang="en-US" b="1" dirty="0" smtClean="0"/>
              <a:t>Dedicated Applications</a:t>
            </a:r>
            <a:r>
              <a:rPr lang="en-US" b="1" dirty="0"/>
              <a:t>: </a:t>
            </a:r>
            <a:r>
              <a:rPr lang="en-US" dirty="0"/>
              <a:t>Specifically designed for conducting WLAN site </a:t>
            </a:r>
            <a:r>
              <a:rPr lang="en-US" dirty="0" smtClean="0"/>
              <a:t>surveys</a:t>
            </a:r>
            <a:endParaRPr lang="en-US" dirty="0"/>
          </a:p>
          <a:p>
            <a:pPr lvl="1"/>
            <a:r>
              <a:rPr lang="en-US" dirty="0"/>
              <a:t>Full-featured site survey analyzer software settings:</a:t>
            </a:r>
          </a:p>
          <a:p>
            <a:pPr lvl="2"/>
            <a:r>
              <a:rPr lang="en-US" dirty="0"/>
              <a:t>Destination MAC </a:t>
            </a:r>
            <a:r>
              <a:rPr lang="en-US" dirty="0" smtClean="0"/>
              <a:t>Address – AP that will be involved in the test</a:t>
            </a:r>
            <a:endParaRPr lang="en-US" dirty="0"/>
          </a:p>
          <a:p>
            <a:pPr lvl="2"/>
            <a:r>
              <a:rPr lang="en-US" dirty="0"/>
              <a:t>Continuous Link </a:t>
            </a:r>
            <a:r>
              <a:rPr lang="en-US" dirty="0" smtClean="0"/>
              <a:t>Test – Active Mode test will run repeatedly until the Stop button is clicked</a:t>
            </a:r>
            <a:endParaRPr lang="en-US" dirty="0"/>
          </a:p>
          <a:p>
            <a:pPr lvl="2"/>
            <a:r>
              <a:rPr lang="en-US" dirty="0"/>
              <a:t>Number of </a:t>
            </a:r>
            <a:r>
              <a:rPr lang="en-US" dirty="0" smtClean="0"/>
              <a:t>Packets – sets quantity of packets</a:t>
            </a:r>
            <a:endParaRPr lang="en-US" dirty="0"/>
          </a:p>
          <a:p>
            <a:pPr lvl="2"/>
            <a:r>
              <a:rPr lang="en-US" dirty="0"/>
              <a:t>Packet </a:t>
            </a:r>
            <a:r>
              <a:rPr lang="en-US" dirty="0" smtClean="0"/>
              <a:t>Size – sets the size of the packets during test</a:t>
            </a:r>
            <a:endParaRPr lang="en-US" dirty="0"/>
          </a:p>
          <a:p>
            <a:pPr lvl="2"/>
            <a:r>
              <a:rPr lang="en-US" dirty="0"/>
              <a:t>Data </a:t>
            </a:r>
            <a:r>
              <a:rPr lang="en-US" dirty="0" smtClean="0"/>
              <a:t>Retries – sets the number of times a transmission will be repeated if an ACK frame is not returned by the destination device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F0E117-165F-4912-BECB-6776513BC652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Tools</a:t>
            </a:r>
            <a:endParaRPr lang="en-US" dirty="0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 smtClean="0"/>
              <a:t>Full-featured </a:t>
            </a:r>
            <a:r>
              <a:rPr lang="en-US" dirty="0"/>
              <a:t>site survey analyzer software settings (continued):</a:t>
            </a:r>
          </a:p>
          <a:p>
            <a:pPr lvl="2"/>
            <a:r>
              <a:rPr lang="en-US" dirty="0"/>
              <a:t>Data </a:t>
            </a:r>
            <a:r>
              <a:rPr lang="en-US" dirty="0" smtClean="0"/>
              <a:t>Rate – sets the bit rate packets will be transmitted</a:t>
            </a:r>
            <a:endParaRPr lang="en-US" dirty="0"/>
          </a:p>
          <a:p>
            <a:pPr lvl="2"/>
            <a:r>
              <a:rPr lang="en-US" dirty="0"/>
              <a:t>Delay Between </a:t>
            </a:r>
            <a:r>
              <a:rPr lang="en-US" dirty="0" smtClean="0"/>
              <a:t>Packets</a:t>
            </a:r>
            <a:endParaRPr lang="en-US" dirty="0"/>
          </a:p>
          <a:p>
            <a:pPr lvl="2"/>
            <a:r>
              <a:rPr lang="en-US" dirty="0"/>
              <a:t>Packet Tx </a:t>
            </a:r>
            <a:r>
              <a:rPr lang="en-US" dirty="0" smtClean="0"/>
              <a:t>Type - Unicast </a:t>
            </a:r>
            <a:r>
              <a:rPr lang="en-US" dirty="0"/>
              <a:t>or multicast</a:t>
            </a:r>
          </a:p>
          <a:p>
            <a:pPr lvl="2"/>
            <a:r>
              <a:rPr lang="en-US" dirty="0"/>
              <a:t>Percent Success Threshold</a:t>
            </a:r>
          </a:p>
          <a:p>
            <a:pPr lvl="1"/>
            <a:r>
              <a:rPr lang="en-US" dirty="0"/>
              <a:t>Basic survey analyzer software contains far fewer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F45A2-46D9-4FE0-A171-5BC79363E768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457200" y="5943600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Figure </a:t>
            </a:r>
            <a:r>
              <a:rPr lang="en-US" dirty="0" smtClean="0">
                <a:solidFill>
                  <a:schemeClr val="tx1"/>
                </a:solidFill>
                <a:latin typeface="Arial" charset="0"/>
              </a:rPr>
              <a:t>8-4  </a:t>
            </a:r>
            <a:r>
              <a:rPr lang="en-CA" dirty="0">
                <a:solidFill>
                  <a:schemeClr val="tx1"/>
                </a:solidFill>
                <a:latin typeface="Arial" charset="0"/>
              </a:rPr>
              <a:t>Full-featured </a:t>
            </a:r>
            <a:r>
              <a:rPr lang="en-CA" dirty="0" smtClean="0">
                <a:solidFill>
                  <a:schemeClr val="tx1"/>
                </a:solidFill>
                <a:latin typeface="Arial" charset="0"/>
              </a:rPr>
              <a:t>dedicated application </a:t>
            </a:r>
            <a:r>
              <a:rPr lang="en-CA" dirty="0">
                <a:solidFill>
                  <a:schemeClr val="tx1"/>
                </a:solidFill>
                <a:latin typeface="Arial" charset="0"/>
              </a:rPr>
              <a:t>setup</a:t>
            </a:r>
          </a:p>
        </p:txBody>
      </p:sp>
      <p:pic>
        <p:nvPicPr>
          <p:cNvPr id="3074" name="Picture 2" descr="C:\Users\Julie\Documents\DropBox\InstructorManuals\CWNA\PPTs-new\fIGURES\Figure 8-4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14400"/>
            <a:ext cx="4267200" cy="449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F673F9-D65C-4AB7-92B2-EBC265A1E054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457200" y="5867400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Figure </a:t>
            </a:r>
            <a:r>
              <a:rPr lang="en-US" dirty="0" smtClean="0">
                <a:solidFill>
                  <a:schemeClr val="tx1"/>
                </a:solidFill>
                <a:latin typeface="Arial" charset="0"/>
              </a:rPr>
              <a:t>8-5  </a:t>
            </a:r>
            <a:r>
              <a:rPr lang="en-CA" dirty="0">
                <a:solidFill>
                  <a:schemeClr val="tx1"/>
                </a:solidFill>
                <a:latin typeface="Arial" charset="0"/>
              </a:rPr>
              <a:t>Full-featured </a:t>
            </a:r>
            <a:r>
              <a:rPr lang="en-CA" dirty="0" smtClean="0">
                <a:solidFill>
                  <a:schemeClr val="tx1"/>
                </a:solidFill>
                <a:latin typeface="Arial" charset="0"/>
              </a:rPr>
              <a:t>dedicated application results</a:t>
            </a:r>
            <a:endParaRPr lang="en-CA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4098" name="Picture 2" descr="C:\Users\Julie\Documents\DropBox\InstructorManuals\CWNA\PPTs-new\fIGURES\Figure 8-5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3657600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E6109D-DAD8-4497-A3C6-119D22175B05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Tools</a:t>
            </a:r>
            <a:endParaRPr lang="en-US" dirty="0"/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Spectrum Analyzers: </a:t>
            </a:r>
            <a:r>
              <a:rPr lang="en-US" dirty="0" smtClean="0"/>
              <a:t>Scans RF spectrum </a:t>
            </a:r>
            <a:r>
              <a:rPr lang="en-US" dirty="0"/>
              <a:t>and provides graphical display of results</a:t>
            </a:r>
          </a:p>
          <a:p>
            <a:pPr lvl="1"/>
            <a:r>
              <a:rPr lang="en-US" dirty="0"/>
              <a:t>Typically measure signal-to-noise ratio</a:t>
            </a:r>
          </a:p>
          <a:p>
            <a:pPr lvl="1"/>
            <a:r>
              <a:rPr lang="en-US" dirty="0" smtClean="0"/>
              <a:t>Most common spectrum analyzer measurements are modulation, distortion, and noise</a:t>
            </a:r>
            <a:endParaRPr lang="en-US" dirty="0"/>
          </a:p>
          <a:p>
            <a:pPr lvl="1"/>
            <a:r>
              <a:rPr lang="en-US" dirty="0"/>
              <a:t>Helpful in identifying interference problems</a:t>
            </a:r>
          </a:p>
          <a:p>
            <a:pPr lvl="2"/>
            <a:r>
              <a:rPr lang="en-US" dirty="0"/>
              <a:t>Thus, helps properly position/orient 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285998-8491-4A63-BB79-996664026568}" type="slidenum">
              <a:rPr lang="en-US"/>
              <a:pPr/>
              <a:t>21</a:t>
            </a:fld>
            <a:endParaRPr lang="en-US" dirty="0"/>
          </a:p>
        </p:txBody>
      </p:sp>
      <p:pic>
        <p:nvPicPr>
          <p:cNvPr id="5122" name="Picture 2" descr="C:\Users\Julie\Documents\DropBox\InstructorManuals\CWNA\PPTs-new\fIGURES\Figure 8-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95400"/>
            <a:ext cx="5794008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81200" y="5743545"/>
            <a:ext cx="4969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Figure 8-8  USB spectrum analyzer output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40B7DC-2AF9-4D4C-B738-C24AE7A4474D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0" y="5791200"/>
            <a:ext cx="6522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Table 8-2  Description of USB Spectrum Analyzer Views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050" name="Picture 2" descr="C:\Users\Julie\Documents\Dropbox\InstructorManuals\CWNA\PPTs-new\Tables\chapter 08\Table 8-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33600"/>
            <a:ext cx="745519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A47ED2-AF13-42C1-8B68-5659D6558F62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Tools</a:t>
            </a:r>
            <a:endParaRPr lang="en-US" dirty="0"/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Protocol </a:t>
            </a:r>
            <a:r>
              <a:rPr lang="en-US" b="1" dirty="0"/>
              <a:t>Analyzers: </a:t>
            </a:r>
            <a:r>
              <a:rPr lang="en-US" b="1" dirty="0" smtClean="0"/>
              <a:t> </a:t>
            </a:r>
            <a:r>
              <a:rPr lang="en-US" dirty="0" smtClean="0"/>
              <a:t>Can </a:t>
            </a:r>
            <a:r>
              <a:rPr lang="en-US" dirty="0"/>
              <a:t>be used to pick up packets being transmitted by other WLANs in area </a:t>
            </a:r>
          </a:p>
          <a:p>
            <a:pPr lvl="1"/>
            <a:r>
              <a:rPr lang="en-US" dirty="0" smtClean="0"/>
              <a:t>Also called a </a:t>
            </a:r>
            <a:r>
              <a:rPr lang="en-US" i="1" dirty="0" smtClean="0"/>
              <a:t>sniffer</a:t>
            </a:r>
            <a:endParaRPr lang="en-US" i="1" dirty="0"/>
          </a:p>
          <a:p>
            <a:pPr lvl="1"/>
            <a:r>
              <a:rPr lang="en-US" dirty="0" smtClean="0"/>
              <a:t>Can be a stand-alone protocol analyzer device or a computer that runs protocol analyzer software</a:t>
            </a:r>
          </a:p>
          <a:p>
            <a:r>
              <a:rPr lang="en-US" dirty="0" smtClean="0"/>
              <a:t>Common uses of protocol analyzers:</a:t>
            </a:r>
          </a:p>
          <a:p>
            <a:pPr lvl="1"/>
            <a:r>
              <a:rPr lang="en-US" dirty="0" smtClean="0"/>
              <a:t>Network troubleshooting: can detect and diagnose problems such as addressing errors </a:t>
            </a:r>
          </a:p>
          <a:p>
            <a:pPr lvl="1"/>
            <a:r>
              <a:rPr lang="en-US" dirty="0" smtClean="0"/>
              <a:t>Network traffic characteristics: helps to fine-tune the network and manage bandwidth in order to provide the highest level of service to users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67A9F7-8053-495D-9DF7-2DACB513C067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146" name="Picture 2" descr="C:\Users\Julie\Documents\DropBox\InstructorManuals\CWNA\PPTs-new\fIGURES\Figure 8-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05013" y="1214438"/>
            <a:ext cx="5133975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5943600"/>
            <a:ext cx="4257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Figure 8-9  Protocol analyzer output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0241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5E75D3-93D5-4E0F-B4EA-344DCDB1CDB6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Tools</a:t>
            </a:r>
            <a:endParaRPr lang="en-US" dirty="0"/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Documentation Tools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a “hard copy” of site survey results </a:t>
            </a:r>
          </a:p>
          <a:p>
            <a:pPr lvl="1"/>
            <a:r>
              <a:rPr lang="en-US" dirty="0"/>
              <a:t>Make available for future </a:t>
            </a:r>
            <a:r>
              <a:rPr lang="en-US" dirty="0" smtClean="0"/>
              <a:t>reference</a:t>
            </a:r>
            <a:endParaRPr lang="en-US" dirty="0"/>
          </a:p>
          <a:p>
            <a:r>
              <a:rPr lang="en-US" dirty="0"/>
              <a:t>Site survey report should include:</a:t>
            </a:r>
          </a:p>
          <a:p>
            <a:pPr lvl="1"/>
            <a:r>
              <a:rPr lang="en-US" dirty="0"/>
              <a:t>Purpose of report</a:t>
            </a:r>
          </a:p>
          <a:p>
            <a:pPr lvl="1"/>
            <a:r>
              <a:rPr lang="en-US" dirty="0"/>
              <a:t>Survey methods</a:t>
            </a:r>
          </a:p>
          <a:p>
            <a:pPr lvl="1"/>
            <a:r>
              <a:rPr lang="en-US" dirty="0"/>
              <a:t>RF coverage details (frequency and channel plan)</a:t>
            </a:r>
          </a:p>
          <a:p>
            <a:pPr lvl="1"/>
            <a:r>
              <a:rPr lang="en-US" dirty="0"/>
              <a:t>Throughput findings</a:t>
            </a:r>
          </a:p>
          <a:p>
            <a:pPr lvl="1"/>
            <a:r>
              <a:rPr lang="en-US" dirty="0"/>
              <a:t>Sources of interference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30BDEC-BEA7-4479-AFC2-9203074993ED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Tools</a:t>
            </a:r>
            <a:endParaRPr lang="en-US" dirty="0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 survey report should include (continued):</a:t>
            </a:r>
          </a:p>
          <a:p>
            <a:pPr lvl="1"/>
            <a:r>
              <a:rPr lang="en-US" dirty="0"/>
              <a:t>Problem zones</a:t>
            </a:r>
          </a:p>
          <a:p>
            <a:pPr lvl="1"/>
            <a:r>
              <a:rPr lang="en-US" dirty="0"/>
              <a:t>Marked-up facility drawings with access point placement</a:t>
            </a:r>
          </a:p>
          <a:p>
            <a:pPr lvl="1"/>
            <a:r>
              <a:rPr lang="en-US" dirty="0"/>
              <a:t>Access point configuration</a:t>
            </a:r>
          </a:p>
          <a:p>
            <a:r>
              <a:rPr lang="en-US" dirty="0" smtClean="0"/>
              <a:t>It is advisable </a:t>
            </a:r>
            <a:r>
              <a:rPr lang="en-US" dirty="0"/>
              <a:t>to create </a:t>
            </a:r>
            <a:r>
              <a:rPr lang="en-US" dirty="0" smtClean="0"/>
              <a:t>a database </a:t>
            </a:r>
            <a:r>
              <a:rPr lang="en-US" dirty="0"/>
              <a:t>to store site survey information and generate reports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97BD74-E3CB-4D18-9B59-776017F495F5}" type="slidenum">
              <a:rPr lang="en-US"/>
              <a:pPr/>
              <a:t>27</a:t>
            </a:fld>
            <a:endParaRPr lang="en-US" dirty="0"/>
          </a:p>
        </p:txBody>
      </p:sp>
      <p:pic>
        <p:nvPicPr>
          <p:cNvPr id="7170" name="Picture 2" descr="C:\Users\Julie\Documents\DropBox\InstructorManuals\CWNA\PPTs-new\fIGURES\Figure 8-10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038600" cy="421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71600" y="5791200"/>
            <a:ext cx="6136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Figure 8-10  Sample site survey documentation form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Voice over WiFi (VoWiFi) Tools and Surveys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Voice over WiFi (VoWiFi): an implementation of VoIP telephony on a WLAN</a:t>
            </a:r>
          </a:p>
          <a:p>
            <a:r>
              <a:rPr lang="en-US" dirty="0" smtClean="0"/>
              <a:t>Considerations when planning for VoWiFi:</a:t>
            </a:r>
          </a:p>
          <a:p>
            <a:pPr lvl="1"/>
            <a:r>
              <a:rPr lang="en-US" i="1" dirty="0" smtClean="0"/>
              <a:t>Packet loss</a:t>
            </a:r>
            <a:r>
              <a:rPr lang="en-US" dirty="0" smtClean="0"/>
              <a:t>: a high number of lost packets can cause a noticeable impact on voice communications</a:t>
            </a:r>
          </a:p>
          <a:p>
            <a:pPr lvl="2"/>
            <a:r>
              <a:rPr lang="en-US" dirty="0" smtClean="0"/>
              <a:t>Should be less than 1% in a VoWiFi network </a:t>
            </a:r>
          </a:p>
          <a:p>
            <a:pPr lvl="1"/>
            <a:r>
              <a:rPr lang="en-US" i="1" dirty="0" smtClean="0"/>
              <a:t>Delay</a:t>
            </a:r>
            <a:r>
              <a:rPr lang="en-US" dirty="0" smtClean="0"/>
              <a:t>: amount of acceptable time that a late packet can arrive and still be used</a:t>
            </a:r>
          </a:p>
          <a:p>
            <a:pPr lvl="1"/>
            <a:r>
              <a:rPr lang="en-US" i="1" dirty="0" smtClean="0"/>
              <a:t>Jitter</a:t>
            </a:r>
            <a:r>
              <a:rPr lang="en-US" dirty="0" smtClean="0"/>
              <a:t>: measure of delay between packets</a:t>
            </a:r>
          </a:p>
          <a:p>
            <a:pPr lvl="2"/>
            <a:r>
              <a:rPr lang="en-US" dirty="0" smtClean="0"/>
              <a:t>Less than 5 milliseconds is acceptable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2985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Voice over WiFi (VoWiFi) Tools and Surveys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performing a site survey the primary tools used are the built-in tools in the VoWiFi handset</a:t>
            </a:r>
          </a:p>
          <a:p>
            <a:r>
              <a:rPr lang="en-US" dirty="0" smtClean="0"/>
              <a:t>When planning for VoWiFi:</a:t>
            </a:r>
          </a:p>
          <a:p>
            <a:pPr lvl="1"/>
            <a:r>
              <a:rPr lang="en-US" dirty="0" smtClean="0"/>
              <a:t>Have overlap between adjacent cells of coverage area to ensure sufficient RF signal strength</a:t>
            </a:r>
          </a:p>
          <a:p>
            <a:pPr lvl="1"/>
            <a:r>
              <a:rPr lang="en-US" dirty="0" smtClean="0"/>
              <a:t>Many VoWiFi handsets do not support 802.11n and do not have multiple antennas</a:t>
            </a:r>
          </a:p>
          <a:p>
            <a:pPr lvl="2"/>
            <a:r>
              <a:rPr lang="en-US" dirty="0" smtClean="0"/>
              <a:t>Some VoWiFi handsets support load balancing of moving a new call to an alternate channel that is less congested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9710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67A9F7-8053-495D-9DF7-2DACB513C067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8194" name="Picture 2" descr="C:\Users\Julie\Documents\DropBox\InstructorManuals\CWNA\PPTs-new\fIGURES\Figure 8-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371600"/>
            <a:ext cx="4343400" cy="297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60087" y="5512158"/>
            <a:ext cx="4240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Figure 8-11  Cell overlap for VoWiFi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3813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Procedures for Performing a Site Survey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basic steps in conducting a site survey:</a:t>
            </a:r>
          </a:p>
          <a:p>
            <a:pPr lvl="1"/>
            <a:r>
              <a:rPr lang="en-US" dirty="0" smtClean="0"/>
              <a:t>Gathering background data</a:t>
            </a:r>
          </a:p>
          <a:p>
            <a:pPr lvl="1"/>
            <a:r>
              <a:rPr lang="en-US" dirty="0" smtClean="0"/>
              <a:t>Performing the actual survey</a:t>
            </a:r>
          </a:p>
          <a:p>
            <a:pPr lvl="1"/>
            <a:r>
              <a:rPr lang="en-US" dirty="0" smtClean="0"/>
              <a:t>Generating the site survey report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2657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1018F9-F5D0-40BF-90DD-30BE26D603A0}" type="slidenum">
              <a:rPr lang="en-US"/>
              <a:pPr/>
              <a:t>32</a:t>
            </a:fld>
            <a:endParaRPr lang="en-US" dirty="0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Gathering </a:t>
            </a:r>
            <a:r>
              <a:rPr lang="en-US" dirty="0"/>
              <a:t>Data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Examining </a:t>
            </a:r>
            <a:r>
              <a:rPr lang="en-US" b="1" dirty="0"/>
              <a:t>Business Requirements: </a:t>
            </a:r>
            <a:r>
              <a:rPr lang="en-US" dirty="0"/>
              <a:t>Determine business reasons why WLAN being proposed or extended</a:t>
            </a:r>
          </a:p>
          <a:p>
            <a:pPr lvl="1"/>
            <a:r>
              <a:rPr lang="en-US" dirty="0"/>
              <a:t>If this step skipped, almost impossible to properly design and implement the network</a:t>
            </a:r>
          </a:p>
          <a:p>
            <a:pPr lvl="1"/>
            <a:r>
              <a:rPr lang="en-US" dirty="0"/>
              <a:t>Primary data gathering method is interviewing</a:t>
            </a:r>
          </a:p>
          <a:p>
            <a:pPr lvl="1"/>
            <a:r>
              <a:rPr lang="en-US" dirty="0"/>
              <a:t>Must determine type of mobility required within organization</a:t>
            </a:r>
          </a:p>
          <a:p>
            <a:pPr lvl="1"/>
            <a:r>
              <a:rPr lang="en-US" dirty="0"/>
              <a:t>Must determine per-user bandwidth requirements</a:t>
            </a:r>
          </a:p>
          <a:p>
            <a:pPr lvl="2"/>
            <a:r>
              <a:rPr lang="en-US" dirty="0"/>
              <a:t>May be different “types” of users with different bandwidth requirements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0E3BD4-8408-42BE-90DD-6E52FD1411D9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Gathering Data</a:t>
            </a:r>
            <a:endParaRPr lang="en-US" dirty="0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Defining Security Requirements: </a:t>
            </a:r>
            <a:r>
              <a:rPr lang="en-US" dirty="0"/>
              <a:t>Consider type of data encryption and type of authentication that will take place across WLAN</a:t>
            </a:r>
          </a:p>
          <a:p>
            <a:pPr lvl="1"/>
            <a:r>
              <a:rPr lang="en-US" dirty="0"/>
              <a:t>Consider existing security policies and </a:t>
            </a:r>
            <a:r>
              <a:rPr lang="en-US" dirty="0" smtClean="0"/>
              <a:t>procedures</a:t>
            </a:r>
          </a:p>
          <a:p>
            <a:pPr lvl="1"/>
            <a:r>
              <a:rPr lang="en-US" dirty="0" smtClean="0"/>
              <a:t>Examine the physical requirements as well</a:t>
            </a:r>
            <a:endParaRPr lang="en-US" dirty="0"/>
          </a:p>
          <a:p>
            <a:r>
              <a:rPr lang="en-US" b="1" dirty="0"/>
              <a:t>Gathering Site-Specific Documentation:</a:t>
            </a:r>
          </a:p>
          <a:p>
            <a:pPr lvl="1"/>
            <a:r>
              <a:rPr lang="en-US" dirty="0"/>
              <a:t>Blueprints, facility drawings, and other documents</a:t>
            </a:r>
          </a:p>
          <a:p>
            <a:pPr lvl="2"/>
            <a:r>
              <a:rPr lang="en-US" dirty="0"/>
              <a:t>Show specific building infrastructure components</a:t>
            </a:r>
          </a:p>
          <a:p>
            <a:pPr lvl="1"/>
            <a:r>
              <a:rPr lang="en-US" dirty="0"/>
              <a:t>Inspecting the site</a:t>
            </a:r>
          </a:p>
          <a:p>
            <a:pPr lvl="2"/>
            <a:r>
              <a:rPr lang="en-US" dirty="0"/>
              <a:t>Document changes to blueprints and get visual perspective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2972BD-7E64-46AD-A6D5-86CB31D71336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Gathering Data</a:t>
            </a:r>
            <a:endParaRPr lang="en-US" dirty="0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Gathering Site-Specific Documentation (continued):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Behind-the-scenes site inspection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May require ladder, flashlight, and an escort</a:t>
            </a:r>
          </a:p>
          <a:p>
            <a:pPr>
              <a:lnSpc>
                <a:spcPct val="90000"/>
              </a:lnSpc>
            </a:pPr>
            <a:r>
              <a:rPr lang="en-US" b="1" dirty="0"/>
              <a:t>Documenting Existing Network Characteristics: </a:t>
            </a:r>
            <a:r>
              <a:rPr lang="en-US" dirty="0"/>
              <a:t>New or expanded WLAN will “dovetail” into network already in place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How does current network support the mission?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What applications run on the network?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How many users does it support?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What are the strengths and weaknesses of current network?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Gathering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Documenting Existing Network Characteristics </a:t>
            </a:r>
            <a:r>
              <a:rPr lang="en-US" dirty="0" smtClean="0"/>
              <a:t>(continued):</a:t>
            </a:r>
          </a:p>
          <a:p>
            <a:pPr lvl="1"/>
            <a:r>
              <a:rPr lang="en-US" dirty="0" smtClean="0"/>
              <a:t>What is the anticipated growth?</a:t>
            </a:r>
          </a:p>
          <a:p>
            <a:pPr lvl="1"/>
            <a:r>
              <a:rPr lang="en-US" dirty="0" smtClean="0"/>
              <a:t>Types of information should be included in the current network documentation include:</a:t>
            </a:r>
          </a:p>
          <a:p>
            <a:pPr lvl="2"/>
            <a:r>
              <a:rPr lang="en-US" dirty="0" smtClean="0"/>
              <a:t>Number and types of clients</a:t>
            </a:r>
          </a:p>
          <a:p>
            <a:pPr lvl="2"/>
            <a:r>
              <a:rPr lang="en-US" dirty="0" smtClean="0"/>
              <a:t>Number of servers</a:t>
            </a:r>
          </a:p>
          <a:p>
            <a:pPr lvl="2"/>
            <a:r>
              <a:rPr lang="en-US" dirty="0" smtClean="0"/>
              <a:t>Topology of the network</a:t>
            </a:r>
          </a:p>
          <a:p>
            <a:pPr lvl="2"/>
            <a:r>
              <a:rPr lang="en-US" dirty="0" smtClean="0"/>
              <a:t>Type of media being used</a:t>
            </a:r>
          </a:p>
          <a:p>
            <a:pPr lvl="2"/>
            <a:r>
              <a:rPr lang="en-US" dirty="0" smtClean="0"/>
              <a:t>Performance of the network</a:t>
            </a:r>
          </a:p>
          <a:p>
            <a:pPr lvl="2"/>
            <a:r>
              <a:rPr lang="en-US" dirty="0" smtClean="0"/>
              <a:t>Types of devices connected to the network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0723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Analyzing Technical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Gathering data to determine the technical requirements for the WLAN is important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743545"/>
            <a:ext cx="3689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Table 8-4  WLAN requirements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074" name="Picture 2" descr="C:\Users\Julie\Documents\Dropbox\InstructorManuals\CWNA\PPTs-new\Tables\chapter 08\Table 8-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9010" y="3124200"/>
            <a:ext cx="7549339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80125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67A9F7-8053-495D-9DF7-2DACB513C06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43000" y="5638800"/>
            <a:ext cx="5173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Table 8-5  Wireless technical considerations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098" name="Picture 2" descr="C:\Users\Julie\Documents\Dropbox\InstructorManuals\CWNA\PPTs-new\Tables\chapter 08\Table 8-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8128973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70994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095AE8-B78D-4A7E-924A-63899B723D56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Performing </a:t>
            </a:r>
            <a:r>
              <a:rPr lang="en-US" dirty="0"/>
              <a:t>the Survey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4572000"/>
          </a:xfrm>
        </p:spPr>
        <p:txBody>
          <a:bodyPr/>
          <a:lstStyle/>
          <a:p>
            <a:r>
              <a:rPr lang="en-US" b="1" dirty="0" smtClean="0"/>
              <a:t>Access Point Configuration and Location:</a:t>
            </a:r>
            <a:endParaRPr lang="en-US" b="1" dirty="0"/>
          </a:p>
          <a:p>
            <a:pPr lvl="1"/>
            <a:r>
              <a:rPr lang="en-US" dirty="0" smtClean="0"/>
              <a:t>Decide the type of AP that will be used</a:t>
            </a:r>
          </a:p>
          <a:p>
            <a:pPr lvl="1"/>
            <a:r>
              <a:rPr lang="en-US" dirty="0" smtClean="0"/>
              <a:t>Configure the AP for optimum power output and channel assignments</a:t>
            </a:r>
            <a:endParaRPr lang="en-US" dirty="0"/>
          </a:p>
          <a:p>
            <a:pPr lvl="1"/>
            <a:r>
              <a:rPr lang="en-US" dirty="0"/>
              <a:t>Position AP</a:t>
            </a:r>
          </a:p>
          <a:p>
            <a:pPr lvl="2"/>
            <a:r>
              <a:rPr lang="en-US" dirty="0"/>
              <a:t>Initial location will depend on antenna type</a:t>
            </a:r>
          </a:p>
          <a:p>
            <a:pPr lvl="2"/>
            <a:r>
              <a:rPr lang="en-US" dirty="0"/>
              <a:t>Document starting position of AP</a:t>
            </a:r>
          </a:p>
          <a:p>
            <a:pPr lvl="1"/>
            <a:r>
              <a:rPr lang="en-US" dirty="0"/>
              <a:t>Using notebook computer with site survey analyzer software running, walk slowly away from AP</a:t>
            </a:r>
          </a:p>
          <a:p>
            <a:pPr lvl="2"/>
            <a:r>
              <a:rPr lang="en-US" dirty="0"/>
              <a:t>Observe data displayed by analyzer program</a:t>
            </a:r>
          </a:p>
          <a:p>
            <a:pPr lvl="3"/>
            <a:r>
              <a:rPr lang="en-US" dirty="0"/>
              <a:t>Data rate, signal strength, noise floor, and signal-to-noise ratio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C5038A-9965-4E46-A80F-764C95AEC26A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Performing </a:t>
            </a:r>
            <a:r>
              <a:rPr lang="en-US" dirty="0"/>
              <a:t>the </a:t>
            </a:r>
            <a:r>
              <a:rPr lang="en-US" dirty="0" smtClean="0"/>
              <a:t>Survey</a:t>
            </a:r>
            <a:endParaRPr lang="en-US" dirty="0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Identifying Interference:</a:t>
            </a:r>
            <a:endParaRPr lang="en-US" dirty="0"/>
          </a:p>
          <a:p>
            <a:pPr lvl="1"/>
            <a:r>
              <a:rPr lang="en-US" dirty="0"/>
              <a:t>M</a:t>
            </a:r>
            <a:r>
              <a:rPr lang="en-US" dirty="0" smtClean="0"/>
              <a:t>ay come from many different objects (see Table 8-6 on next slide)</a:t>
            </a:r>
          </a:p>
          <a:p>
            <a:pPr lvl="1"/>
            <a:r>
              <a:rPr lang="en-US" dirty="0" smtClean="0"/>
              <a:t>May come from another nearby WLAN</a:t>
            </a:r>
          </a:p>
          <a:p>
            <a:pPr lvl="2"/>
            <a:r>
              <a:rPr lang="en-US" dirty="0" smtClean="0"/>
              <a:t>Both networks may attempt to use the same or adjacent channel</a:t>
            </a:r>
            <a:endParaRPr lang="en-US" dirty="0"/>
          </a:p>
          <a:p>
            <a:r>
              <a:rPr lang="en-US" b="1" dirty="0"/>
              <a:t>Outdoor Surveys: </a:t>
            </a:r>
            <a:r>
              <a:rPr lang="en-US" dirty="0"/>
              <a:t>Similar to indoor surveys, but must consider climatic conditions, trees, different possibilities for antenna positions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66800" y="5715000"/>
            <a:ext cx="3971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Table 8-6  Interference by objects</a:t>
            </a:r>
          </a:p>
        </p:txBody>
      </p:sp>
      <p:pic>
        <p:nvPicPr>
          <p:cNvPr id="5122" name="Picture 2" descr="C:\Users\Julie\Documents\Dropbox\InstructorManuals\CWNA\PPTs-new\Tables\chapter 08\Table 8-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0200" y="685800"/>
            <a:ext cx="5638800" cy="46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27105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32CB3B-AFC0-420A-B1D9-49584A79D1B9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</a:t>
            </a:r>
            <a:r>
              <a:rPr lang="en-US" dirty="0"/>
              <a:t>the Site Survey Report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Narrative section:</a:t>
            </a:r>
          </a:p>
          <a:p>
            <a:pPr lvl="1"/>
            <a:r>
              <a:rPr lang="en-US" dirty="0"/>
              <a:t>State customer requirements</a:t>
            </a:r>
          </a:p>
          <a:p>
            <a:pPr lvl="1"/>
            <a:r>
              <a:rPr lang="en-US" dirty="0"/>
              <a:t>Outline methodology</a:t>
            </a:r>
          </a:p>
          <a:p>
            <a:pPr lvl="2"/>
            <a:r>
              <a:rPr lang="en-US" dirty="0"/>
              <a:t>Outline all steps taken during survey</a:t>
            </a:r>
          </a:p>
          <a:p>
            <a:pPr lvl="1"/>
            <a:r>
              <a:rPr lang="en-US" dirty="0"/>
              <a:t>Clearly state results of measurements</a:t>
            </a:r>
          </a:p>
          <a:p>
            <a:pPr lvl="2"/>
            <a:r>
              <a:rPr lang="en-US" dirty="0"/>
              <a:t>May have tables of measurements</a:t>
            </a:r>
          </a:p>
          <a:p>
            <a:pPr lvl="1"/>
            <a:r>
              <a:rPr lang="en-US" dirty="0"/>
              <a:t>Recommendations</a:t>
            </a:r>
          </a:p>
          <a:p>
            <a:pPr lvl="2"/>
            <a:r>
              <a:rPr lang="en-US" dirty="0"/>
              <a:t>Should always address security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C5E5A7-1D55-4DF8-8913-4E5D7C2F76C7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</a:t>
            </a:r>
            <a:r>
              <a:rPr lang="en-US" dirty="0"/>
              <a:t>the Site Survey </a:t>
            </a:r>
            <a:r>
              <a:rPr lang="en-US" dirty="0" smtClean="0"/>
              <a:t>Report</a:t>
            </a:r>
            <a:endParaRPr lang="en-US" dirty="0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Graphic section: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Generally includes maps and diagrams of coverage area</a:t>
            </a:r>
          </a:p>
          <a:p>
            <a:pPr lvl="2"/>
            <a:r>
              <a:rPr lang="en-US" dirty="0"/>
              <a:t>Data rate coverage map</a:t>
            </a:r>
          </a:p>
          <a:p>
            <a:pPr lvl="2"/>
            <a:r>
              <a:rPr lang="en-US" dirty="0"/>
              <a:t>Signal-to-noise ratio plot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F5EAC6-3CC4-49DA-8D57-7F44344C86B4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236548" name="Rectangle 4"/>
          <p:cNvSpPr>
            <a:spLocks noChangeArrowheads="1"/>
          </p:cNvSpPr>
          <p:nvPr/>
        </p:nvSpPr>
        <p:spPr bwMode="auto">
          <a:xfrm>
            <a:off x="457200" y="5943600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Figure </a:t>
            </a:r>
            <a:r>
              <a:rPr lang="en-US" dirty="0" smtClean="0">
                <a:solidFill>
                  <a:schemeClr val="tx1"/>
                </a:solidFill>
                <a:latin typeface="Arial" charset="0"/>
              </a:rPr>
              <a:t>8-13  </a:t>
            </a:r>
            <a:r>
              <a:rPr lang="en-CA" dirty="0">
                <a:solidFill>
                  <a:schemeClr val="tx1"/>
                </a:solidFill>
                <a:latin typeface="Arial" charset="0"/>
              </a:rPr>
              <a:t>3-D </a:t>
            </a:r>
            <a:r>
              <a:rPr lang="en-CA" dirty="0" smtClean="0">
                <a:solidFill>
                  <a:schemeClr val="tx1"/>
                </a:solidFill>
                <a:latin typeface="Arial" charset="0"/>
              </a:rPr>
              <a:t>SNR plot</a:t>
            </a:r>
            <a:endParaRPr lang="en-CA" dirty="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9218" name="Picture 2" descr="C:\Users\Julie\Documents\DropBox\InstructorManuals\CWNA\PPTs-new\fIGURES\Figure 8-13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84888" y="990600"/>
            <a:ext cx="477422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46329D-74A5-4CC0-806C-633160A31FF3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site survey is an in-depth examination and analysis of a proposed wireless LAN site to meet design </a:t>
            </a:r>
            <a:r>
              <a:rPr lang="en-US" dirty="0" smtClean="0"/>
              <a:t>goals</a:t>
            </a:r>
          </a:p>
          <a:p>
            <a:r>
              <a:rPr lang="en-US" dirty="0" smtClean="0"/>
              <a:t>A manual site survey involves walking through the area of the WLAN while carrying a laptop or tablet</a:t>
            </a:r>
          </a:p>
          <a:p>
            <a:r>
              <a:rPr lang="en-US" dirty="0" smtClean="0"/>
              <a:t>A predictive site survey is a virtual survey of the area that uses modeling techniques to design the WLAN using predictive analysis simulation application survey software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ategories of tools used</a:t>
            </a:r>
          </a:p>
          <a:p>
            <a:pPr lvl="1"/>
            <a:r>
              <a:rPr lang="en-US" dirty="0" smtClean="0"/>
              <a:t>Wireless tools include the access point and notebook computers with a wireless NIC</a:t>
            </a:r>
          </a:p>
          <a:p>
            <a:pPr lvl="1"/>
            <a:r>
              <a:rPr lang="en-US" dirty="0" smtClean="0"/>
              <a:t>Measurement tools include site survey analyzers, spectrum analyzers, and network analyzers</a:t>
            </a:r>
          </a:p>
          <a:p>
            <a:r>
              <a:rPr lang="en-US" dirty="0" smtClean="0"/>
              <a:t>Three steps in conducting a site survey</a:t>
            </a:r>
          </a:p>
          <a:p>
            <a:pPr lvl="1"/>
            <a:r>
              <a:rPr lang="en-US" dirty="0" smtClean="0"/>
              <a:t>Gather the background data</a:t>
            </a:r>
          </a:p>
          <a:p>
            <a:pPr lvl="1"/>
            <a:r>
              <a:rPr lang="en-US" dirty="0" smtClean="0"/>
              <a:t>Perform the actual survey</a:t>
            </a:r>
          </a:p>
          <a:p>
            <a:pPr lvl="1"/>
            <a:r>
              <a:rPr lang="en-US" dirty="0" smtClean="0"/>
              <a:t>Create the site survey report, containing a narrative and a graphical section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23118F-8649-4894-997C-DB54E78D3C8C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25020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CWNA Guide to Wireless LANs, Third Edition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442E3-9E91-4FE8-AF1B-0BEF8BEBE934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Outdoor surveys are similar to indoor surveys, but must consider climatic conditions, trees, different possibilities for antenna positions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3_Default Design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2347</Words>
  <Application>Microsoft Office PowerPoint</Application>
  <PresentationFormat>On-screen Show (4:3)</PresentationFormat>
  <Paragraphs>356</Paragraphs>
  <Slides>46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48" baseType="lpstr">
      <vt:lpstr>Default Design</vt:lpstr>
      <vt:lpstr>3_Default Design</vt:lpstr>
      <vt:lpstr>CWNA Guide to Wireless LANs,  Third Edition</vt:lpstr>
      <vt:lpstr>Objectives</vt:lpstr>
      <vt:lpstr>What is a Site Survey?</vt:lpstr>
      <vt:lpstr>What is a Site Survey?</vt:lpstr>
      <vt:lpstr>Purpose of a Site Survey</vt:lpstr>
      <vt:lpstr>Purpose of a Site Survey</vt:lpstr>
      <vt:lpstr>When to Perform a Site Survey</vt:lpstr>
      <vt:lpstr>Slide 8</vt:lpstr>
      <vt:lpstr>Types of Site Surveys</vt:lpstr>
      <vt:lpstr>Types of Site Surveys</vt:lpstr>
      <vt:lpstr>Slide 11</vt:lpstr>
      <vt:lpstr>Types of Site Surveys</vt:lpstr>
      <vt:lpstr>Site Survey Tools</vt:lpstr>
      <vt:lpstr>Wireless Device Tools</vt:lpstr>
      <vt:lpstr>Slide 15</vt:lpstr>
      <vt:lpstr>Specialized Tools</vt:lpstr>
      <vt:lpstr>Specialized Tools</vt:lpstr>
      <vt:lpstr>Slide 18</vt:lpstr>
      <vt:lpstr>Slide 19</vt:lpstr>
      <vt:lpstr>Specialized Tools</vt:lpstr>
      <vt:lpstr>Slide 21</vt:lpstr>
      <vt:lpstr>Slide 22</vt:lpstr>
      <vt:lpstr>Specialized Tools</vt:lpstr>
      <vt:lpstr>Slide 24</vt:lpstr>
      <vt:lpstr>Specialized Tools</vt:lpstr>
      <vt:lpstr>Specialized Tools</vt:lpstr>
      <vt:lpstr>Slide 27</vt:lpstr>
      <vt:lpstr>Voice over WiFi (VoWiFi) Tools and Surveys</vt:lpstr>
      <vt:lpstr>Voice over WiFi (VoWiFi) Tools and Surveys</vt:lpstr>
      <vt:lpstr>Slide 30</vt:lpstr>
      <vt:lpstr>Procedures for Performing a Site Survey</vt:lpstr>
      <vt:lpstr>Gathering Data</vt:lpstr>
      <vt:lpstr>Gathering Data</vt:lpstr>
      <vt:lpstr>Gathering Data</vt:lpstr>
      <vt:lpstr>Gathering Data</vt:lpstr>
      <vt:lpstr>Analyzing Technical Requirements</vt:lpstr>
      <vt:lpstr>Slide 37</vt:lpstr>
      <vt:lpstr>Performing the Survey</vt:lpstr>
      <vt:lpstr>Performing the Survey</vt:lpstr>
      <vt:lpstr>Slide 40</vt:lpstr>
      <vt:lpstr>Creating the Site Survey Report</vt:lpstr>
      <vt:lpstr>Creating the Site Survey Report</vt:lpstr>
      <vt:lpstr>Slide 43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CWNA Guide to Wireless LANs,Third Edition</dc:title>
  <dc:subject>Chapter One</dc:subject>
  <dc:creator/>
  <cp:lastModifiedBy/>
  <cp:revision>241</cp:revision>
  <dcterms:created xsi:type="dcterms:W3CDTF">2002-09-27T23:29:22Z</dcterms:created>
  <dcterms:modified xsi:type="dcterms:W3CDTF">2012-07-30T15:51:52Z</dcterms:modified>
</cp:coreProperties>
</file>